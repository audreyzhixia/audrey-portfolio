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2" r:id="rId3"/>
  </p:sldMasterIdLst>
  <p:notesMasterIdLst>
    <p:notesMasterId r:id="rId17"/>
  </p:notesMasterIdLst>
  <p:sldIdLst>
    <p:sldId id="602" r:id="rId4"/>
    <p:sldId id="623" r:id="rId5"/>
    <p:sldId id="590" r:id="rId6"/>
    <p:sldId id="624" r:id="rId7"/>
    <p:sldId id="625" r:id="rId8"/>
    <p:sldId id="626" r:id="rId9"/>
    <p:sldId id="647" r:id="rId10"/>
    <p:sldId id="648" r:id="rId11"/>
    <p:sldId id="649" r:id="rId12"/>
    <p:sldId id="650" r:id="rId13"/>
    <p:sldId id="651" r:id="rId14"/>
    <p:sldId id="652" r:id="rId15"/>
    <p:sldId id="653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7" userDrawn="1">
          <p15:clr>
            <a:srgbClr val="A4A3A4"/>
          </p15:clr>
        </p15:guide>
        <p15:guide id="2" pos="10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965"/>
    <a:srgbClr val="826A5E"/>
    <a:srgbClr val="F6D9BC"/>
    <a:srgbClr val="ECBCB0"/>
    <a:srgbClr val="CF786F"/>
    <a:srgbClr val="6E7D76"/>
    <a:srgbClr val="BECCCF"/>
    <a:srgbClr val="F4F2F3"/>
    <a:srgbClr val="767682"/>
    <a:srgbClr val="6F6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3992" autoAdjust="0"/>
  </p:normalViewPr>
  <p:slideViewPr>
    <p:cSldViewPr snapToGrid="0" showGuides="1">
      <p:cViewPr>
        <p:scale>
          <a:sx n="100" d="100"/>
          <a:sy n="100" d="100"/>
        </p:scale>
        <p:origin x="1248" y="816"/>
      </p:cViewPr>
      <p:guideLst>
        <p:guide orient="horz" pos="1037"/>
        <p:guide pos="10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7752368" y="-298383"/>
            <a:ext cx="2009578" cy="1553977"/>
            <a:chOff x="7452117" y="-571338"/>
            <a:chExt cx="3079650" cy="2381448"/>
          </a:xfrm>
        </p:grpSpPr>
        <p:sp>
          <p:nvSpPr>
            <p:cNvPr id="16" name="菱形 15"/>
            <p:cNvSpPr/>
            <p:nvPr userDrawn="1"/>
          </p:nvSpPr>
          <p:spPr>
            <a:xfrm>
              <a:off x="8605390" y="-571338"/>
              <a:ext cx="1926377" cy="1926377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菱形 19"/>
            <p:cNvSpPr/>
            <p:nvPr userDrawn="1"/>
          </p:nvSpPr>
          <p:spPr>
            <a:xfrm>
              <a:off x="7452117" y="226629"/>
              <a:ext cx="1583481" cy="1583481"/>
            </a:xfrm>
            <a:prstGeom prst="diamond">
              <a:avLst/>
            </a:prstGeom>
            <a:solidFill>
              <a:srgbClr val="ECB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-498205" y="3889611"/>
            <a:ext cx="1430222" cy="1728369"/>
            <a:chOff x="-498206" y="3333389"/>
            <a:chExt cx="1890495" cy="2284592"/>
          </a:xfrm>
        </p:grpSpPr>
        <p:sp>
          <p:nvSpPr>
            <p:cNvPr id="15" name="菱形 14"/>
            <p:cNvSpPr/>
            <p:nvPr userDrawn="1"/>
          </p:nvSpPr>
          <p:spPr>
            <a:xfrm>
              <a:off x="-498206" y="4156826"/>
              <a:ext cx="1461155" cy="1461155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菱形 20"/>
            <p:cNvSpPr/>
            <p:nvPr userDrawn="1"/>
          </p:nvSpPr>
          <p:spPr>
            <a:xfrm>
              <a:off x="538610" y="3333389"/>
              <a:ext cx="853679" cy="853679"/>
            </a:xfrm>
            <a:prstGeom prst="diamond">
              <a:avLst/>
            </a:prstGeom>
            <a:solidFill>
              <a:srgbClr val="ECB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7752368" y="-298383"/>
            <a:ext cx="2009578" cy="1553977"/>
            <a:chOff x="7452117" y="-571338"/>
            <a:chExt cx="3079650" cy="2381448"/>
          </a:xfrm>
        </p:grpSpPr>
        <p:sp>
          <p:nvSpPr>
            <p:cNvPr id="16" name="菱形 15"/>
            <p:cNvSpPr/>
            <p:nvPr userDrawn="1"/>
          </p:nvSpPr>
          <p:spPr>
            <a:xfrm>
              <a:off x="8605390" y="-571338"/>
              <a:ext cx="1926377" cy="1926377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菱形 19"/>
            <p:cNvSpPr/>
            <p:nvPr userDrawn="1"/>
          </p:nvSpPr>
          <p:spPr>
            <a:xfrm>
              <a:off x="7452117" y="226629"/>
              <a:ext cx="1583481" cy="1583481"/>
            </a:xfrm>
            <a:prstGeom prst="diamond">
              <a:avLst/>
            </a:prstGeom>
            <a:solidFill>
              <a:srgbClr val="ECB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-498205" y="3889611"/>
            <a:ext cx="1430222" cy="1728369"/>
            <a:chOff x="-498206" y="3333389"/>
            <a:chExt cx="1890495" cy="2284592"/>
          </a:xfrm>
        </p:grpSpPr>
        <p:sp>
          <p:nvSpPr>
            <p:cNvPr id="15" name="菱形 14"/>
            <p:cNvSpPr/>
            <p:nvPr userDrawn="1"/>
          </p:nvSpPr>
          <p:spPr>
            <a:xfrm>
              <a:off x="-498206" y="4156826"/>
              <a:ext cx="1461155" cy="1461155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菱形 20"/>
            <p:cNvSpPr/>
            <p:nvPr userDrawn="1"/>
          </p:nvSpPr>
          <p:spPr>
            <a:xfrm>
              <a:off x="538610" y="3333389"/>
              <a:ext cx="853679" cy="853679"/>
            </a:xfrm>
            <a:prstGeom prst="diamond">
              <a:avLst/>
            </a:prstGeom>
            <a:solidFill>
              <a:srgbClr val="ECB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29486" y="1041845"/>
            <a:ext cx="1825320" cy="1811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37006" y="2998840"/>
            <a:ext cx="1818917" cy="1811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49309" y="1041845"/>
            <a:ext cx="1825320" cy="1811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4656829" y="2998840"/>
            <a:ext cx="1818917" cy="1811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2133232" y="1041845"/>
            <a:ext cx="2361460" cy="1811813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7F7F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2133232" y="2998840"/>
            <a:ext cx="2361460" cy="1811813"/>
          </a:xfrm>
          <a:prstGeom prst="rect">
            <a:avLst/>
          </a:prstGeom>
          <a:solidFill>
            <a:srgbClr val="EAA965"/>
          </a:solidFill>
          <a:ln w="38100">
            <a:solidFill>
              <a:srgbClr val="F7F7F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553682" y="1041845"/>
            <a:ext cx="2361460" cy="1811813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7F7F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6553682" y="2998840"/>
            <a:ext cx="2361460" cy="1811813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7F7F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7752368" y="-298383"/>
            <a:ext cx="2009578" cy="1553977"/>
            <a:chOff x="7452117" y="-571338"/>
            <a:chExt cx="3079650" cy="2381448"/>
          </a:xfrm>
        </p:grpSpPr>
        <p:sp>
          <p:nvSpPr>
            <p:cNvPr id="16" name="菱形 15"/>
            <p:cNvSpPr/>
            <p:nvPr userDrawn="1"/>
          </p:nvSpPr>
          <p:spPr>
            <a:xfrm>
              <a:off x="8605390" y="-571338"/>
              <a:ext cx="1926377" cy="1926377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菱形 19"/>
            <p:cNvSpPr/>
            <p:nvPr userDrawn="1"/>
          </p:nvSpPr>
          <p:spPr>
            <a:xfrm>
              <a:off x="7452117" y="226629"/>
              <a:ext cx="1583481" cy="1583481"/>
            </a:xfrm>
            <a:prstGeom prst="diamond">
              <a:avLst/>
            </a:prstGeom>
            <a:solidFill>
              <a:srgbClr val="ECB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-498205" y="3889611"/>
            <a:ext cx="1430222" cy="1728369"/>
            <a:chOff x="-498206" y="3333389"/>
            <a:chExt cx="1890495" cy="2284592"/>
          </a:xfrm>
        </p:grpSpPr>
        <p:sp>
          <p:nvSpPr>
            <p:cNvPr id="15" name="菱形 14"/>
            <p:cNvSpPr/>
            <p:nvPr userDrawn="1"/>
          </p:nvSpPr>
          <p:spPr>
            <a:xfrm>
              <a:off x="-498206" y="4156826"/>
              <a:ext cx="1461155" cy="1461155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菱形 20"/>
            <p:cNvSpPr/>
            <p:nvPr userDrawn="1"/>
          </p:nvSpPr>
          <p:spPr>
            <a:xfrm>
              <a:off x="538610" y="3333389"/>
              <a:ext cx="853679" cy="853679"/>
            </a:xfrm>
            <a:prstGeom prst="diamond">
              <a:avLst/>
            </a:prstGeom>
            <a:solidFill>
              <a:srgbClr val="ECB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29486" y="1041845"/>
            <a:ext cx="1825320" cy="34936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49309" y="1041845"/>
            <a:ext cx="1825320" cy="34936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2133232" y="1041845"/>
            <a:ext cx="2361460" cy="3493602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7F7F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553682" y="1041845"/>
            <a:ext cx="2361460" cy="3493602"/>
          </a:xfrm>
          <a:prstGeom prst="rect">
            <a:avLst/>
          </a:prstGeom>
          <a:solidFill>
            <a:srgbClr val="EAA965"/>
          </a:solidFill>
          <a:ln w="38100">
            <a:solidFill>
              <a:srgbClr val="F7F7F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6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7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8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9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0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4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6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7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8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9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0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4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6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7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8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9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0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4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4" Type="http://schemas.openxmlformats.org/officeDocument/2006/relationships/theme" Target="../theme/theme1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jpeg"/><Relationship Id="rId6" Type="http://schemas.openxmlformats.org/officeDocument/2006/relationships/image" Target="../media/image20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A_矩形 7"/>
          <p:cNvSpPr/>
          <p:nvPr>
            <p:custDataLst>
              <p:tags r:id="rId1"/>
            </p:custDataLst>
          </p:nvPr>
        </p:nvSpPr>
        <p:spPr>
          <a:xfrm>
            <a:off x="2082161" y="1950774"/>
            <a:ext cx="4979670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 defTabSz="685800">
              <a:defRPr/>
            </a:pPr>
            <a:r>
              <a:rPr lang="zh-CN" altLang="en-US" sz="4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r>
              <a:rPr lang="en-US" altLang="zh-CN" sz="4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+</a:t>
            </a:r>
            <a:r>
              <a:rPr lang="zh-CN" altLang="en-US" sz="4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endParaRPr lang="zh-CN" altLang="en-US" sz="44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8" name="菱形 27"/>
          <p:cNvSpPr/>
          <p:nvPr/>
        </p:nvSpPr>
        <p:spPr>
          <a:xfrm>
            <a:off x="7452117" y="226629"/>
            <a:ext cx="1583481" cy="1583481"/>
          </a:xfrm>
          <a:prstGeom prst="diamond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9" name="菱形 28"/>
          <p:cNvSpPr/>
          <p:nvPr/>
        </p:nvSpPr>
        <p:spPr>
          <a:xfrm>
            <a:off x="538610" y="3333389"/>
            <a:ext cx="853679" cy="853679"/>
          </a:xfrm>
          <a:prstGeom prst="diamond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0" name="菱形 29"/>
          <p:cNvSpPr/>
          <p:nvPr/>
        </p:nvSpPr>
        <p:spPr>
          <a:xfrm>
            <a:off x="538610" y="623130"/>
            <a:ext cx="1286284" cy="1286284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/>
        </p:nvSpPr>
        <p:spPr>
          <a:xfrm>
            <a:off x="7551818" y="3333389"/>
            <a:ext cx="1286284" cy="1286284"/>
          </a:xfrm>
          <a:prstGeom prst="diamond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7" name="菱形 36"/>
          <p:cNvSpPr/>
          <p:nvPr/>
        </p:nvSpPr>
        <p:spPr>
          <a:xfrm>
            <a:off x="1746194" y="3662645"/>
            <a:ext cx="682912" cy="68291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68311" y="2695691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9" name="菱形 28"/>
          <p:cNvSpPr/>
          <p:nvPr>
            <p:custDataLst>
              <p:tags r:id="rId1"/>
            </p:custDataLst>
          </p:nvPr>
        </p:nvSpPr>
        <p:spPr>
          <a:xfrm>
            <a:off x="538610" y="3333389"/>
            <a:ext cx="853679" cy="853679"/>
          </a:xfrm>
          <a:prstGeom prst="diamond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2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3"/>
            </p:custDataLst>
          </p:nvPr>
        </p:nvSpPr>
        <p:spPr>
          <a:xfrm>
            <a:off x="1845310" y="56515"/>
            <a:ext cx="352806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endParaRPr lang="zh-CN" altLang="en-US" sz="4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860550" y="1023620"/>
            <a:ext cx="596519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zh-CN" altLang="en-US" sz="2000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操作步骤</a:t>
            </a:r>
            <a:endParaRPr kumimoji="1" lang="zh-CN" altLang="en-US" sz="2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 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网安平台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注册账号</a:t>
            </a:r>
            <a:endParaRPr kumimoji="1" lang="en-US" alt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2 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网安平台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申请新增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app</a:t>
            </a:r>
            <a:endParaRPr kumimoji="1" lang="zh-CN" altLang="en-US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3 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网安平台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申请安全评估</a:t>
            </a:r>
            <a:endParaRPr kumimoji="1" lang="zh-CN" altLang="en-US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2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2000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凭证资料</a:t>
            </a:r>
            <a:br>
              <a:rPr kumimoji="1" lang="zh-CN" altLang="en-US" sz="2000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</a:b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 APP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安全评估报告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PDF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文档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小于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10M)</a:t>
            </a:r>
            <a:r>
              <a:rPr kumimoji="1" 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、图片</a:t>
            </a:r>
            <a:endParaRPr kumimoji="1" lang="zh-CN" altLang="en-US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2 </a:t>
            </a:r>
            <a:r>
              <a:rPr kumimoji="1" 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其他服务安全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评估报告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PDF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文档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小于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10M)</a:t>
            </a:r>
            <a:r>
              <a:rPr kumimoji="1" 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、图片</a:t>
            </a:r>
            <a:endParaRPr kumimoji="1" 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3 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网安平台通过截图</a:t>
            </a:r>
            <a:endParaRPr kumimoji="1" lang="en-US" alt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操作步骤</a:t>
            </a:r>
            <a:endParaRPr lang="zh-CN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0170" y="2506345"/>
            <a:ext cx="32004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个人身份证注册账号</a:t>
            </a:r>
            <a:endParaRPr kumimoji="1" 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①登录网站：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https://ywtb.mps.gov.cn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②网安平台：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https://beian.mps.gov.cn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法人账号下移交主体给个人账号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①法人短信验证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②个人账号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(3)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个人账号接收主体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注意：一个账号下有多个主体时，所有操作记得核对主体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右上角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)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pic>
        <p:nvPicPr>
          <p:cNvPr id="11" name="图片 10" descr="9c457e76cf91338efd2fe9e1ec6ba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" y="507365"/>
            <a:ext cx="3200400" cy="1907540"/>
          </a:xfrm>
          <a:prstGeom prst="rect">
            <a:avLst/>
          </a:prstGeom>
        </p:spPr>
      </p:pic>
      <p:pic>
        <p:nvPicPr>
          <p:cNvPr id="15" name="图片 14" descr="新增a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480" y="497205"/>
            <a:ext cx="3810635" cy="4465955"/>
          </a:xfrm>
          <a:prstGeom prst="rect">
            <a:avLst/>
          </a:prstGeom>
        </p:spPr>
      </p:pic>
      <p:sp>
        <p:nvSpPr>
          <p:cNvPr id="19" name="PA_矩形 8"/>
          <p:cNvSpPr/>
          <p:nvPr>
            <p:custDataLst>
              <p:tags r:id="rId6"/>
            </p:custDataLst>
          </p:nvPr>
        </p:nvSpPr>
        <p:spPr>
          <a:xfrm>
            <a:off x="0" y="262255"/>
            <a:ext cx="8471535" cy="24511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 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网安平台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注册账号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           2 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网安平台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申请新增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APP   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7335520" y="497205"/>
            <a:ext cx="23856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准备应用资料</a:t>
            </a:r>
            <a:endParaRPr kumimoji="1" 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①应用名称</a:t>
            </a:r>
            <a:endParaRPr kumimoji="1" 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②应用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logo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③功能描述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④运行截图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至少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张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)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填写注意事项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①应用类型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选择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其他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”)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②前置许可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选择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否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”)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操作步骤</a:t>
            </a:r>
            <a:endParaRPr lang="zh-CN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_矩形 8"/>
          <p:cNvSpPr/>
          <p:nvPr>
            <p:custDataLst>
              <p:tags r:id="rId3"/>
            </p:custDataLst>
          </p:nvPr>
        </p:nvSpPr>
        <p:spPr>
          <a:xfrm>
            <a:off x="508635" y="262255"/>
            <a:ext cx="8471535" cy="24511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3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网安平台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申请安全评估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3954780" y="507365"/>
            <a:ext cx="5092065" cy="439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评估对象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①评估对象类型为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APP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 a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需要新增版本号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b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小米、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vivo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要求类型为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APP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，小米加后缀会被判定服务名称不一致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②评估对象为其他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a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需要写详细服务内容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   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eg:</a:t>
            </a: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简历模版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Job</a:t>
            </a: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求职软件中包含的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人工智能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AI</a:t>
            </a: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助手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功能（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AI</a:t>
            </a: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合成功能）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b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市场通过率高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填写注意事项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①开展评估情况：全选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②评估方法：自评估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③是否建立投诉举报机制：是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全部模版见附件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下载自评估报告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①手写补充信息、签字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②盖章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开办主体负责人：法人签字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评估负责人：产品签字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开办主体单位：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盖主体章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)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 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评估单位：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盖主体章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)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(3)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上传已盖章的自评估报告并提交审核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天通过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)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185" y="7141210"/>
            <a:ext cx="4098290" cy="5900420"/>
          </a:xfrm>
          <a:prstGeom prst="rect">
            <a:avLst/>
          </a:prstGeom>
        </p:spPr>
      </p:pic>
      <p:pic>
        <p:nvPicPr>
          <p:cNvPr id="6" name="图片 5" descr="8d0b94692c827e836b491ea4d236cd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480" y="9958705"/>
            <a:ext cx="3914775" cy="5143500"/>
          </a:xfrm>
          <a:prstGeom prst="rect">
            <a:avLst/>
          </a:prstGeom>
        </p:spPr>
      </p:pic>
      <p:pic>
        <p:nvPicPr>
          <p:cNvPr id="8" name="图片 7" descr="80c5947181f0aa158dd39580c6976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" y="507365"/>
            <a:ext cx="3275330" cy="4575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凭证资料</a:t>
            </a:r>
            <a:endParaRPr lang="zh-CN" altLang="en-US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_矩形 8"/>
          <p:cNvSpPr/>
          <p:nvPr>
            <p:custDataLst>
              <p:tags r:id="rId3"/>
            </p:custDataLst>
          </p:nvPr>
        </p:nvSpPr>
        <p:spPr>
          <a:xfrm>
            <a:off x="-24765" y="407035"/>
            <a:ext cx="8471535" cy="24511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 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APP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安全评估报告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PDF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文档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小于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10M)</a:t>
            </a:r>
            <a:r>
              <a:rPr kumimoji="1" 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、图片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85" y="7141210"/>
            <a:ext cx="4098290" cy="5900420"/>
          </a:xfrm>
          <a:prstGeom prst="rect">
            <a:avLst/>
          </a:prstGeom>
        </p:spPr>
      </p:pic>
      <p:pic>
        <p:nvPicPr>
          <p:cNvPr id="6" name="图片 5" descr="8d0b94692c827e836b491ea4d236cd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480" y="9958705"/>
            <a:ext cx="3914775" cy="5143500"/>
          </a:xfrm>
          <a:prstGeom prst="rect">
            <a:avLst/>
          </a:prstGeom>
        </p:spPr>
      </p:pic>
      <p:pic>
        <p:nvPicPr>
          <p:cNvPr id="3" name="图片 2" descr="2729de7bc2708b5bcae71d104f279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" y="746760"/>
            <a:ext cx="2223770" cy="3149600"/>
          </a:xfrm>
          <a:prstGeom prst="rect">
            <a:avLst/>
          </a:prstGeom>
        </p:spPr>
      </p:pic>
      <p:pic>
        <p:nvPicPr>
          <p:cNvPr id="7" name="图片 6" descr="（已压缩）成都边宸-简历模版Job求职-app安全评估-已盖章_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1080" y="746760"/>
            <a:ext cx="2223770" cy="3148965"/>
          </a:xfrm>
          <a:prstGeom prst="rect">
            <a:avLst/>
          </a:prstGeom>
        </p:spPr>
      </p:pic>
      <p:pic>
        <p:nvPicPr>
          <p:cNvPr id="9" name="图片 8" descr="（已压缩）成都边宸-简历模版Job求职-app安全评估-已盖章_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1680" y="746760"/>
            <a:ext cx="2223135" cy="3147695"/>
          </a:xfrm>
          <a:prstGeom prst="rect">
            <a:avLst/>
          </a:prstGeom>
        </p:spPr>
      </p:pic>
      <p:pic>
        <p:nvPicPr>
          <p:cNvPr id="10" name="图片 9" descr="（已压缩）成都边宸-简历模版Job求职-app安全评估-已盖章_0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8790" y="746760"/>
            <a:ext cx="2259965" cy="3199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凭证资料</a:t>
            </a:r>
            <a:endParaRPr lang="zh-CN" altLang="en-US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_矩形 8"/>
          <p:cNvSpPr/>
          <p:nvPr>
            <p:custDataLst>
              <p:tags r:id="rId3"/>
            </p:custDataLst>
          </p:nvPr>
        </p:nvSpPr>
        <p:spPr>
          <a:xfrm>
            <a:off x="-24765" y="407035"/>
            <a:ext cx="8471535" cy="24511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2 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其他服务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安全评估报告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PDF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文档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小于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10M)</a:t>
            </a:r>
            <a:r>
              <a:rPr kumimoji="1" 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、图片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85" y="7141210"/>
            <a:ext cx="4098290" cy="5900420"/>
          </a:xfrm>
          <a:prstGeom prst="rect">
            <a:avLst/>
          </a:prstGeom>
        </p:spPr>
      </p:pic>
      <p:pic>
        <p:nvPicPr>
          <p:cNvPr id="6" name="图片 5" descr="8d0b94692c827e836b491ea4d236cd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480" y="9958705"/>
            <a:ext cx="3914775" cy="5143500"/>
          </a:xfrm>
          <a:prstGeom prst="rect">
            <a:avLst/>
          </a:prstGeom>
        </p:spPr>
      </p:pic>
      <p:pic>
        <p:nvPicPr>
          <p:cNvPr id="11" name="图片 10" descr="621af99f3daae8925366f5b1ca2a8e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" y="824230"/>
            <a:ext cx="2274570" cy="3202940"/>
          </a:xfrm>
          <a:prstGeom prst="rect">
            <a:avLst/>
          </a:prstGeom>
        </p:spPr>
      </p:pic>
      <p:pic>
        <p:nvPicPr>
          <p:cNvPr id="13" name="图片 12" descr="b9fae202014436c7ccc78f702c3d0b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5050" y="824230"/>
            <a:ext cx="2266315" cy="3201670"/>
          </a:xfrm>
          <a:prstGeom prst="rect">
            <a:avLst/>
          </a:prstGeom>
        </p:spPr>
      </p:pic>
      <p:pic>
        <p:nvPicPr>
          <p:cNvPr id="14" name="图片 13" descr="c9562b53ba0d174a02e5198a1e291d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1205" y="824230"/>
            <a:ext cx="2304415" cy="3251835"/>
          </a:xfrm>
          <a:prstGeom prst="rect">
            <a:avLst/>
          </a:prstGeom>
        </p:spPr>
      </p:pic>
      <p:pic>
        <p:nvPicPr>
          <p:cNvPr id="18" name="图片 17" descr="a84674698a750618d4abb70b9e4a3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6415" y="824230"/>
            <a:ext cx="2268220" cy="3201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网安备案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凭证资料</a:t>
            </a:r>
            <a:endParaRPr lang="zh-CN" altLang="en-US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_矩形 8"/>
          <p:cNvSpPr/>
          <p:nvPr>
            <p:custDataLst>
              <p:tags r:id="rId3"/>
            </p:custDataLst>
          </p:nvPr>
        </p:nvSpPr>
        <p:spPr>
          <a:xfrm>
            <a:off x="-24765" y="407035"/>
            <a:ext cx="8471535" cy="24511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3 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网安平台通过截图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85" y="7141210"/>
            <a:ext cx="4098290" cy="5900420"/>
          </a:xfrm>
          <a:prstGeom prst="rect">
            <a:avLst/>
          </a:prstGeom>
        </p:spPr>
      </p:pic>
      <p:pic>
        <p:nvPicPr>
          <p:cNvPr id="6" name="图片 5" descr="8d0b94692c827e836b491ea4d236cd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480" y="9958705"/>
            <a:ext cx="3914775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b="8332"/>
          <a:stretch>
            <a:fillRect/>
          </a:stretch>
        </p:blipFill>
        <p:spPr>
          <a:xfrm>
            <a:off x="1720215" y="366395"/>
            <a:ext cx="3855085" cy="473646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5930265" y="806450"/>
            <a:ext cx="2771140" cy="932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defTabSz="609600">
              <a:defRPr/>
            </a:pPr>
            <a:r>
              <a:rPr kumimoji="1" lang="en-US" altLang="zh-CN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必须显示的内容</a:t>
            </a:r>
            <a:endParaRPr kumimoji="1" lang="zh-CN" altLang="en-US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①主体名称</a:t>
            </a:r>
            <a:endParaRPr kumimoji="1" lang="zh-CN" altLang="en-US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②审核结果</a:t>
            </a:r>
            <a:endParaRPr kumimoji="1" lang="zh-CN" altLang="en-US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③评估对象</a:t>
            </a:r>
            <a:endParaRPr kumimoji="1" lang="zh-CN" altLang="en-US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10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r>
              <a:rPr kumimoji="1" lang="en-US" altLang="zh-CN" sz="1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</a:t>
            </a:r>
            <a:endParaRPr kumimoji="1" lang="en-US" altLang="zh-CN" sz="10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0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68311" y="2695691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9" name="菱形 28"/>
          <p:cNvSpPr/>
          <p:nvPr>
            <p:custDataLst>
              <p:tags r:id="rId1"/>
            </p:custDataLst>
          </p:nvPr>
        </p:nvSpPr>
        <p:spPr>
          <a:xfrm>
            <a:off x="538610" y="3333389"/>
            <a:ext cx="853679" cy="853679"/>
          </a:xfrm>
          <a:prstGeom prst="diamond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2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3"/>
            </p:custDataLst>
          </p:nvPr>
        </p:nvSpPr>
        <p:spPr>
          <a:xfrm>
            <a:off x="1804670" y="56515"/>
            <a:ext cx="352806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r>
              <a:rPr lang="en-US" altLang="zh-CN" sz="2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2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科大讯飞</a:t>
            </a:r>
            <a:endParaRPr lang="zh-CN" altLang="en-US" sz="2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670685" y="1023620"/>
            <a:ext cx="661733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zh-CN" altLang="en-US" sz="2000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操作步骤</a:t>
            </a:r>
            <a:endParaRPr kumimoji="1" lang="zh-CN" altLang="en-US" sz="2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 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科大讯飞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购买服务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主体账号</a:t>
            </a: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)</a:t>
            </a:r>
            <a:endParaRPr kumimoji="1" lang="en-US" alt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2 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科大讯飞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找客服要相应算法的备案号</a:t>
            </a:r>
            <a:endParaRPr kumimoji="1" lang="zh-CN" altLang="en-US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3 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科大讯飞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申请电子服务协议并盖章</a:t>
            </a:r>
            <a:endParaRPr kumimoji="1" lang="en-US" alt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4 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算法备案系统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下载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拟公示算法机制机理内容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文件</a:t>
            </a:r>
            <a:endParaRPr kumimoji="1" lang="zh-CN" altLang="en-US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2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2000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凭证资料</a:t>
            </a:r>
            <a:br>
              <a:rPr kumimoji="1" lang="zh-CN" altLang="en-US" sz="2000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</a:b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1 </a:t>
            </a:r>
            <a:r>
              <a:rPr kumimoji="1" 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电子服务协议</a:t>
            </a:r>
            <a:endParaRPr kumimoji="1" lang="zh-CN" altLang="en-US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2 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拟公示算法机制机理内容</a:t>
            </a:r>
            <a:r>
              <a:rPr kumimoji="1" lang="en-US" altLang="zh-CN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文件</a:t>
            </a:r>
            <a:endParaRPr kumimoji="1" 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3 </a:t>
            </a:r>
            <a:r>
              <a:rPr kumimoji="1" lang="zh-CN" altLang="en-US" b="1" kern="0" dirty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算法备案系统截图</a:t>
            </a:r>
            <a:endParaRPr kumimoji="1" lang="en-US" alt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操作步骤</a:t>
            </a:r>
            <a:endParaRPr lang="zh-CN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03700" y="2680335"/>
            <a:ext cx="379857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选择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API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服务，在页面最下方选择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合作咨询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endParaRPr kumimoji="1" 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①咨询该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API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服务对应的大模型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②选择套餐并购买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③网址：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https://www.xfyun.cn/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确认大模型之后，找客服要算法备案号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注意：有部分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API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服务的付费套餐并未对外开放，需要咨询客服，他们会建群处理，购买通用大模型后让客服授权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API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服务；最好是能找到对应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API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服务的开发人员，他们比较清楚算法备案号的事情。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sp>
        <p:nvSpPr>
          <p:cNvPr id="19" name="PA_矩形 8"/>
          <p:cNvSpPr/>
          <p:nvPr>
            <p:custDataLst>
              <p:tags r:id="rId4"/>
            </p:custDataLst>
          </p:nvPr>
        </p:nvSpPr>
        <p:spPr>
          <a:xfrm>
            <a:off x="0" y="262255"/>
            <a:ext cx="8471535" cy="553085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 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科大讯飞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购买服务</a:t>
            </a:r>
            <a:endParaRPr lang="zh-CN" altLang="en-US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  <a:p>
            <a:pPr lvl="0" algn="l" defTabSz="685800">
              <a:defRPr/>
            </a:pP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2 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科大讯飞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找客服要相应算法的备案号</a:t>
            </a:r>
            <a:endParaRPr kumimoji="1" lang="zh-CN" altLang="en-US" sz="1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        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170" y="677545"/>
            <a:ext cx="2635250" cy="1519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700" y="677545"/>
            <a:ext cx="3723640" cy="1744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805" y="2211070"/>
            <a:ext cx="2634615" cy="2851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操作步骤</a:t>
            </a:r>
            <a:endParaRPr lang="zh-CN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989830" y="1040765"/>
            <a:ext cx="402145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控制台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财务中心</a:t>
            </a:r>
            <a:r>
              <a:rPr kumimoji="1" lang="en-US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合同管理（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https://console.xfyun.cn/center/contract 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）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点击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申请电子合同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，进入合同申请流程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(3)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选择需要开具合同的订单（最多同时勾选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5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个订单）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(4)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填写并确认公司信息，提交申请，生成草稿合同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(5)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草稿合同确认没问题后，点击生成正式合同（含讯飞合同专用章）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en-US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(6)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下载正式合同，盖主体章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sp>
        <p:nvSpPr>
          <p:cNvPr id="19" name="PA_矩形 8"/>
          <p:cNvSpPr/>
          <p:nvPr>
            <p:custDataLst>
              <p:tags r:id="rId4"/>
            </p:custDataLst>
          </p:nvPr>
        </p:nvSpPr>
        <p:spPr>
          <a:xfrm>
            <a:off x="0" y="391795"/>
            <a:ext cx="8471535" cy="39878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3 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科大讯飞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申请电子服务协议</a:t>
            </a:r>
            <a:endParaRPr lang="zh-CN" altLang="en-US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        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70" y="1040765"/>
            <a:ext cx="4646930" cy="2757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操作步骤</a:t>
            </a:r>
            <a:endParaRPr lang="zh-CN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355850" y="3405505"/>
            <a:ext cx="4432935" cy="1737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(1)</a:t>
            </a: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登录互联网信息服务算法备案平台</a:t>
            </a:r>
            <a:endParaRPr kumimoji="1" 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网址：</a:t>
            </a: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https://beian.cac.gov.cn/</a:t>
            </a:r>
            <a:endParaRPr kumimoji="1" lang="en-US" alt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(2)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选择备案编号搜索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defTabSz="609600">
              <a:defRPr/>
            </a:pPr>
            <a:r>
              <a:rPr kumimoji="1" lang="en-US" altLang="zh-CN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(3)</a:t>
            </a:r>
            <a:r>
              <a:rPr kumimoji="1" lang="zh-CN" altLang="en-US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下载文件</a:t>
            </a:r>
            <a:endParaRPr kumimoji="1" lang="zh-CN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sp>
        <p:nvSpPr>
          <p:cNvPr id="19" name="PA_矩形 8"/>
          <p:cNvSpPr/>
          <p:nvPr>
            <p:custDataLst>
              <p:tags r:id="rId4"/>
            </p:custDataLst>
          </p:nvPr>
        </p:nvSpPr>
        <p:spPr>
          <a:xfrm>
            <a:off x="0" y="391795"/>
            <a:ext cx="8471535" cy="39878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4 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算法备案系统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-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下载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“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拟公示算法机制机理内容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文件</a:t>
            </a:r>
            <a:endParaRPr lang="zh-CN" altLang="en-US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                    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85" y="790575"/>
            <a:ext cx="7359650" cy="2507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凭证资料</a:t>
            </a:r>
            <a:endParaRPr lang="zh-CN" altLang="en-US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_矩形 8"/>
          <p:cNvSpPr/>
          <p:nvPr>
            <p:custDataLst>
              <p:tags r:id="rId3"/>
            </p:custDataLst>
          </p:nvPr>
        </p:nvSpPr>
        <p:spPr>
          <a:xfrm>
            <a:off x="1059180" y="277495"/>
            <a:ext cx="8134350" cy="39878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 </a:t>
            </a:r>
            <a:r>
              <a:rPr kumimoji="1" 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电子服务协议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                                   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 2 “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拟公示算法机制机理内容</a:t>
            </a:r>
            <a:r>
              <a:rPr kumimoji="1" lang="en-US" altLang="zh-CN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”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文件</a:t>
            </a: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</a:t>
            </a:r>
            <a:endParaRPr kumimoji="1" lang="en-US" altLang="zh-CN" sz="1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85" y="7141210"/>
            <a:ext cx="4098290" cy="5900420"/>
          </a:xfrm>
          <a:prstGeom prst="rect">
            <a:avLst/>
          </a:prstGeom>
        </p:spPr>
      </p:pic>
      <p:pic>
        <p:nvPicPr>
          <p:cNvPr id="6" name="图片 5" descr="8d0b94692c827e836b491ea4d236cd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480" y="9958705"/>
            <a:ext cx="3914775" cy="5143500"/>
          </a:xfrm>
          <a:prstGeom prst="rect">
            <a:avLst/>
          </a:prstGeom>
        </p:spPr>
      </p:pic>
      <p:pic>
        <p:nvPicPr>
          <p:cNvPr id="2" name="图片 1" descr="算法备案-服务协议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45" y="522605"/>
            <a:ext cx="3225165" cy="4559300"/>
          </a:xfrm>
          <a:prstGeom prst="rect">
            <a:avLst/>
          </a:prstGeom>
        </p:spPr>
      </p:pic>
      <p:pic>
        <p:nvPicPr>
          <p:cNvPr id="8" name="图片 7" descr="公示内容_网信算备_00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465" y="522605"/>
            <a:ext cx="3223895" cy="4558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533905" y="1646732"/>
            <a:ext cx="369651" cy="369651"/>
          </a:xfrm>
          <a:prstGeom prst="ellipse">
            <a:avLst/>
          </a:prstGeom>
          <a:solidFill>
            <a:srgbClr val="BECC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533905" y="2153005"/>
            <a:ext cx="369651" cy="369651"/>
          </a:xfrm>
          <a:prstGeom prst="ellipse">
            <a:avLst/>
          </a:prstGeom>
          <a:solidFill>
            <a:srgbClr val="6E7D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533905" y="2689787"/>
            <a:ext cx="369651" cy="369651"/>
          </a:xfrm>
          <a:prstGeom prst="ellipse">
            <a:avLst/>
          </a:prstGeom>
          <a:solidFill>
            <a:srgbClr val="82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-533905" y="3178800"/>
            <a:ext cx="369651" cy="369651"/>
          </a:xfrm>
          <a:prstGeom prst="ellipse">
            <a:avLst/>
          </a:prstGeom>
          <a:solidFill>
            <a:srgbClr val="CF7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533906" y="3667813"/>
            <a:ext cx="369651" cy="369651"/>
          </a:xfrm>
          <a:prstGeom prst="ellipse">
            <a:avLst/>
          </a:prstGeom>
          <a:solidFill>
            <a:srgbClr val="ECBC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533907" y="4156826"/>
            <a:ext cx="369651" cy="369651"/>
          </a:xfrm>
          <a:prstGeom prst="ellipse">
            <a:avLst/>
          </a:prstGeom>
          <a:solidFill>
            <a:srgbClr val="EAA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-498206" y="4156826"/>
            <a:ext cx="1461155" cy="146115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8605390" y="-571338"/>
            <a:ext cx="1926377" cy="192637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1" name="菱形 30"/>
          <p:cNvSpPr/>
          <p:nvPr>
            <p:custDataLst>
              <p:tags r:id="rId1"/>
            </p:custDataLst>
          </p:nvPr>
        </p:nvSpPr>
        <p:spPr>
          <a:xfrm>
            <a:off x="7523537" y="3333390"/>
            <a:ext cx="1286284" cy="1286284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8" name="PA_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824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算法备案</a:t>
            </a:r>
            <a:r>
              <a:rPr lang="en-US" altLang="zh-CN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-</a:t>
            </a:r>
            <a:r>
              <a:rPr lang="zh-CN" altLang="en-US" sz="14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凭证资料</a:t>
            </a:r>
            <a:endParaRPr lang="zh-CN" altLang="en-US" sz="14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_矩形 8"/>
          <p:cNvSpPr/>
          <p:nvPr>
            <p:custDataLst>
              <p:tags r:id="rId3"/>
            </p:custDataLst>
          </p:nvPr>
        </p:nvSpPr>
        <p:spPr>
          <a:xfrm>
            <a:off x="236855" y="361315"/>
            <a:ext cx="8471535" cy="39878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685800">
              <a:defRPr/>
            </a:pPr>
            <a:r>
              <a:rPr kumimoji="1" 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3 </a:t>
            </a:r>
            <a:r>
              <a:rPr kumimoji="1" lang="zh-CN" altLang="en-US" sz="1000" b="1" kern="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算法备案系统截图</a:t>
            </a:r>
            <a:endParaRPr kumimoji="1" lang="en-US" altLang="zh-CN" sz="1000" b="1" kern="0" dirty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  <a:p>
            <a:pPr lvl="0" algn="l" defTabSz="685800">
              <a:defRPr/>
            </a:pPr>
            <a:r>
              <a:rPr lang="en-US" altLang="zh-CN" sz="1000" b="1" kern="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                                     </a:t>
            </a:r>
            <a:endParaRPr lang="en-US" altLang="zh-CN" sz="1000" b="1" kern="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85" y="7141210"/>
            <a:ext cx="4098290" cy="5900420"/>
          </a:xfrm>
          <a:prstGeom prst="rect">
            <a:avLst/>
          </a:prstGeom>
        </p:spPr>
      </p:pic>
      <p:pic>
        <p:nvPicPr>
          <p:cNvPr id="6" name="图片 5" descr="8d0b94692c827e836b491ea4d236cd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480" y="9958705"/>
            <a:ext cx="3914775" cy="5143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615" y="883285"/>
            <a:ext cx="8700770" cy="2697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3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4.xml><?xml version="1.0" encoding="utf-8"?>
<p:tagLst xmlns:p="http://schemas.openxmlformats.org/presentationml/2006/main">
  <p:tag name="PA" val="v4.1.3"/>
</p:tagLst>
</file>

<file path=ppt/tags/tag5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6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11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12.xml><?xml version="1.0" encoding="utf-8"?>
<p:tagLst xmlns:p="http://schemas.openxmlformats.org/presentationml/2006/main">
  <p:tag name="PA" val="v4.1.3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15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16.xml><?xml version="1.0" encoding="utf-8"?>
<p:tagLst xmlns:p="http://schemas.openxmlformats.org/presentationml/2006/main">
  <p:tag name="PA" val="v4.1.3"/>
</p:tagLst>
</file>

<file path=ppt/tags/tag17.xml><?xml version="1.0" encoding="utf-8"?>
<p:tagLst xmlns:p="http://schemas.openxmlformats.org/presentationml/2006/main">
  <p:tag name="PA" val="v4.1.3"/>
</p:tagLst>
</file>

<file path=ppt/tags/tag18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19.xml><?xml version="1.0" encoding="utf-8"?>
<p:tagLst xmlns:p="http://schemas.openxmlformats.org/presentationml/2006/main">
  <p:tag name="PA" val="v4.1.3"/>
</p:tagLst>
</file>

<file path=ppt/tags/tag20.xml><?xml version="1.0" encoding="utf-8"?>
<p:tagLst xmlns:p="http://schemas.openxmlformats.org/presentationml/2006/main">
  <p:tag name="PA" val="v4.1.3"/>
</p:tagLst>
</file>

<file path=ppt/tags/tag21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22.xml><?xml version="1.0" encoding="utf-8"?>
<p:tagLst xmlns:p="http://schemas.openxmlformats.org/presentationml/2006/main">
  <p:tag name="PA" val="v4.1.3"/>
</p:tagLst>
</file>

<file path=ppt/tags/tag23.xml><?xml version="1.0" encoding="utf-8"?>
<p:tagLst xmlns:p="http://schemas.openxmlformats.org/presentationml/2006/main">
  <p:tag name="PA" val="v4.1.3"/>
</p:tagLst>
</file>

<file path=ppt/tags/tag24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25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26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27.xml><?xml version="1.0" encoding="utf-8"?>
<p:tagLst xmlns:p="http://schemas.openxmlformats.org/presentationml/2006/main">
  <p:tag name="PA" val="v4.1.3"/>
</p:tagLst>
</file>

<file path=ppt/tags/tag28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29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30.xml><?xml version="1.0" encoding="utf-8"?>
<p:tagLst xmlns:p="http://schemas.openxmlformats.org/presentationml/2006/main">
  <p:tag name="PA" val="v4.1.3"/>
</p:tagLst>
</file>

<file path=ppt/tags/tag31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32.xml><?xml version="1.0" encoding="utf-8"?>
<p:tagLst xmlns:p="http://schemas.openxmlformats.org/presentationml/2006/main">
  <p:tag name="PA" val="v4.1.3"/>
</p:tagLst>
</file>

<file path=ppt/tags/tag33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34.xml><?xml version="1.0" encoding="utf-8"?>
<p:tagLst xmlns:p="http://schemas.openxmlformats.org/presentationml/2006/main">
  <p:tag name="PA" val="v4.1.3"/>
</p:tagLst>
</file>

<file path=ppt/tags/tag35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36.xml><?xml version="1.0" encoding="utf-8"?>
<p:tagLst xmlns:p="http://schemas.openxmlformats.org/presentationml/2006/main">
  <p:tag name="PA" val="v4.1.3"/>
</p:tagLst>
</file>

<file path=ppt/tags/tag37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38.xml><?xml version="1.0" encoding="utf-8"?>
<p:tagLst xmlns:p="http://schemas.openxmlformats.org/presentationml/2006/main">
  <p:tag name="PA" val="v4.1.3"/>
</p:tagLst>
</file>

<file path=ppt/tags/tag39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40.xml><?xml version="1.0" encoding="utf-8"?>
<p:tagLst xmlns:p="http://schemas.openxmlformats.org/presentationml/2006/main">
  <p:tag name="PA" val="v4.1.3"/>
</p:tagLst>
</file>

<file path=ppt/tags/tag41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42.xml><?xml version="1.0" encoding="utf-8"?>
<p:tagLst xmlns:p="http://schemas.openxmlformats.org/presentationml/2006/main">
  <p:tag name="PA" val="v4.1.3"/>
</p:tagLst>
</file>

<file path=ppt/tags/tag43.xml><?xml version="1.0" encoding="utf-8"?>
<p:tagLst xmlns:p="http://schemas.openxmlformats.org/presentationml/2006/main">
  <p:tag name="PA" val="v4.1.3"/>
</p:tagLst>
</file>

<file path=ppt/tags/tag44.xml><?xml version="1.0" encoding="utf-8"?>
<p:tagLst xmlns:p="http://schemas.openxmlformats.org/presentationml/2006/main">
  <p:tag name="KSO_WM_DIAGRAM_VIRTUALLY_FRAME" val="{&quot;height&quot;:345.90905511811025,&quot;left&quot;:42.41023622047244,&quot;top&quot;:17.8448031496063,&quot;width&quot;:669.0541732283465}"/>
</p:tagLst>
</file>

<file path=ppt/tags/tag45.xml><?xml version="1.0" encoding="utf-8"?>
<p:tagLst xmlns:p="http://schemas.openxmlformats.org/presentationml/2006/main">
  <p:tag name="PA" val="v4.1.3"/>
</p:tagLst>
</file>

<file path=ppt/tags/tag46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2复古风简约工作汇报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BECCCF"/>
      </a:accent1>
      <a:accent2>
        <a:srgbClr val="6E7D76"/>
      </a:accent2>
      <a:accent3>
        <a:srgbClr val="826A5E"/>
      </a:accent3>
      <a:accent4>
        <a:srgbClr val="CF786F"/>
      </a:accent4>
      <a:accent5>
        <a:srgbClr val="F2EBE5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3">
      <a:majorFont>
        <a:latin typeface="华文细黑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2737</Words>
  <Application>WPS 演示</Application>
  <PresentationFormat>全屏显示(16:9)</PresentationFormat>
  <Paragraphs>181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</vt:lpstr>
      <vt:lpstr>Arial Unicode MS</vt:lpstr>
      <vt:lpstr>华文细黑</vt:lpstr>
      <vt:lpstr>微软雅黑 Light</vt:lpstr>
      <vt:lpstr>Calibri Light</vt:lpstr>
      <vt:lpstr>等线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彩色简约</dc:title>
  <dc:creator>第一PPT</dc:creator>
  <cp:keywords>www.1ppt.com</cp:keywords>
  <dc:description>www.1ppt.com</dc:description>
  <cp:lastModifiedBy>奥黛丽.赫敏</cp:lastModifiedBy>
  <cp:revision>910</cp:revision>
  <dcterms:created xsi:type="dcterms:W3CDTF">2019-06-21T02:16:00Z</dcterms:created>
  <dcterms:modified xsi:type="dcterms:W3CDTF">2025-01-07T07:03:45Z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31A906B6C6554270B2098F2DF46DF583_12</vt:lpwstr>
  </property>
  <property fmtid="{D5CDD505-2E9C-101B-9397-08002B2CF9AE}" pid="3" name="KSOProductBuildVer">
    <vt:lpwstr>2052-12.1.0.19770</vt:lpwstr>
  </property>
</Properties>
</file>